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Aileron" panose="020B0604020202020204" charset="0"/>
      <p:regular r:id="rId24"/>
    </p:embeddedFont>
    <p:embeddedFont>
      <p:font typeface="Aileron Light" panose="020B0604020202020204" charset="0"/>
      <p:regular r:id="rId25"/>
    </p:embeddedFont>
    <p:embeddedFont>
      <p:font typeface="Fredoka" panose="020B0604020202020204" charset="0"/>
      <p:regular r:id="rId26"/>
    </p:embeddedFont>
    <p:embeddedFont>
      <p:font typeface="Poppins" panose="00000500000000000000" pitchFamily="2" charset="0"/>
      <p:regular r:id="rId27"/>
    </p:embeddedFont>
    <p:embeddedFont>
      <p:font typeface="Poppins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sh Burramukku" userId="9c48a17eb6fc8f29" providerId="LiveId" clId="{8522E444-5F9E-465D-8980-5E783883AA26}"/>
    <pc:docChg chg="modSld">
      <pc:chgData name="Aakash Burramukku" userId="9c48a17eb6fc8f29" providerId="LiveId" clId="{8522E444-5F9E-465D-8980-5E783883AA26}" dt="2026-10-14T05:43:25.593" v="18" actId="1076"/>
      <pc:docMkLst>
        <pc:docMk/>
      </pc:docMkLst>
      <pc:sldChg chg="modSp mod">
        <pc:chgData name="Aakash Burramukku" userId="9c48a17eb6fc8f29" providerId="LiveId" clId="{8522E444-5F9E-465D-8980-5E783883AA26}" dt="2026-10-14T05:41:30.084" v="0" actId="1076"/>
        <pc:sldMkLst>
          <pc:docMk/>
          <pc:sldMk cId="0" sldId="257"/>
        </pc:sldMkLst>
        <pc:spChg chg="mod">
          <ac:chgData name="Aakash Burramukku" userId="9c48a17eb6fc8f29" providerId="LiveId" clId="{8522E444-5F9E-465D-8980-5E783883AA26}" dt="2026-10-14T05:41:30.084" v="0" actId="1076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1:37.109" v="3" actId="1076"/>
        <pc:sldMkLst>
          <pc:docMk/>
          <pc:sldMk cId="0" sldId="258"/>
        </pc:sldMkLst>
        <pc:spChg chg="mod">
          <ac:chgData name="Aakash Burramukku" userId="9c48a17eb6fc8f29" providerId="LiveId" clId="{8522E444-5F9E-465D-8980-5E783883AA26}" dt="2026-10-14T05:41:35.137" v="2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Aakash Burramukku" userId="9c48a17eb6fc8f29" providerId="LiveId" clId="{8522E444-5F9E-465D-8980-5E783883AA26}" dt="2026-10-14T05:41:37.109" v="3" actId="1076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1:40.887" v="4" actId="1076"/>
        <pc:sldMkLst>
          <pc:docMk/>
          <pc:sldMk cId="0" sldId="259"/>
        </pc:sldMkLst>
        <pc:spChg chg="mod">
          <ac:chgData name="Aakash Burramukku" userId="9c48a17eb6fc8f29" providerId="LiveId" clId="{8522E444-5F9E-465D-8980-5E783883AA26}" dt="2026-10-14T05:41:40.887" v="4" actId="1076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1:44.984" v="5" actId="1076"/>
        <pc:sldMkLst>
          <pc:docMk/>
          <pc:sldMk cId="0" sldId="260"/>
        </pc:sldMkLst>
        <pc:spChg chg="mod">
          <ac:chgData name="Aakash Burramukku" userId="9c48a17eb6fc8f29" providerId="LiveId" clId="{8522E444-5F9E-465D-8980-5E783883AA26}" dt="2026-10-14T05:41:44.984" v="5" actId="1076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1:50.822" v="6" actId="1076"/>
        <pc:sldMkLst>
          <pc:docMk/>
          <pc:sldMk cId="0" sldId="261"/>
        </pc:sldMkLst>
        <pc:spChg chg="mod">
          <ac:chgData name="Aakash Burramukku" userId="9c48a17eb6fc8f29" providerId="LiveId" clId="{8522E444-5F9E-465D-8980-5E783883AA26}" dt="2026-10-14T05:41:50.822" v="6" actId="1076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1:54.356" v="7" actId="1076"/>
        <pc:sldMkLst>
          <pc:docMk/>
          <pc:sldMk cId="0" sldId="262"/>
        </pc:sldMkLst>
        <pc:spChg chg="mod">
          <ac:chgData name="Aakash Burramukku" userId="9c48a17eb6fc8f29" providerId="LiveId" clId="{8522E444-5F9E-465D-8980-5E783883AA26}" dt="2026-10-14T05:41:54.356" v="7" actId="1076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1:59.728" v="8" actId="1076"/>
        <pc:sldMkLst>
          <pc:docMk/>
          <pc:sldMk cId="0" sldId="264"/>
        </pc:sldMkLst>
        <pc:spChg chg="mod">
          <ac:chgData name="Aakash Burramukku" userId="9c48a17eb6fc8f29" providerId="LiveId" clId="{8522E444-5F9E-465D-8980-5E783883AA26}" dt="2026-10-14T05:41:59.728" v="8" actId="1076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2:21.820" v="11" actId="1076"/>
        <pc:sldMkLst>
          <pc:docMk/>
          <pc:sldMk cId="0" sldId="268"/>
        </pc:sldMkLst>
        <pc:spChg chg="mod">
          <ac:chgData name="Aakash Burramukku" userId="9c48a17eb6fc8f29" providerId="LiveId" clId="{8522E444-5F9E-465D-8980-5E783883AA26}" dt="2026-10-14T05:42:17.974" v="10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Aakash Burramukku" userId="9c48a17eb6fc8f29" providerId="LiveId" clId="{8522E444-5F9E-465D-8980-5E783883AA26}" dt="2026-10-14T05:42:21.820" v="11" actId="1076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2:30.729" v="13" actId="1076"/>
        <pc:sldMkLst>
          <pc:docMk/>
          <pc:sldMk cId="0" sldId="269"/>
        </pc:sldMkLst>
        <pc:spChg chg="mod">
          <ac:chgData name="Aakash Burramukku" userId="9c48a17eb6fc8f29" providerId="LiveId" clId="{8522E444-5F9E-465D-8980-5E783883AA26}" dt="2026-10-14T05:42:30.729" v="13" actId="1076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2:45.979" v="17" actId="1076"/>
        <pc:sldMkLst>
          <pc:docMk/>
          <pc:sldMk cId="0" sldId="270"/>
        </pc:sldMkLst>
        <pc:spChg chg="mod">
          <ac:chgData name="Aakash Burramukku" userId="9c48a17eb6fc8f29" providerId="LiveId" clId="{8522E444-5F9E-465D-8980-5E783883AA26}" dt="2026-10-14T05:42:45.979" v="17" actId="1076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Aakash Burramukku" userId="9c48a17eb6fc8f29" providerId="LiveId" clId="{8522E444-5F9E-465D-8980-5E783883AA26}" dt="2026-10-14T05:43:25.593" v="18" actId="1076"/>
        <pc:sldMkLst>
          <pc:docMk/>
          <pc:sldMk cId="0" sldId="273"/>
        </pc:sldMkLst>
        <pc:spChg chg="mod">
          <ac:chgData name="Aakash Burramukku" userId="9c48a17eb6fc8f29" providerId="LiveId" clId="{8522E444-5F9E-465D-8980-5E783883AA26}" dt="2026-10-14T05:43:25.593" v="18" actId="1076"/>
          <ac:spMkLst>
            <pc:docMk/>
            <pc:sldMk cId="0" sldId="273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3141483"/>
            <a:ext cx="8115300" cy="7242905"/>
          </a:xfrm>
          <a:custGeom>
            <a:avLst/>
            <a:gdLst/>
            <a:ahLst/>
            <a:cxnLst/>
            <a:rect l="l" t="t" r="r" b="b"/>
            <a:pathLst>
              <a:path w="8115300" h="7242905">
                <a:moveTo>
                  <a:pt x="0" y="0"/>
                </a:moveTo>
                <a:lnTo>
                  <a:pt x="8115300" y="0"/>
                </a:lnTo>
                <a:lnTo>
                  <a:pt x="8115300" y="7242905"/>
                </a:lnTo>
                <a:lnTo>
                  <a:pt x="0" y="7242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456431"/>
            <a:ext cx="9213472" cy="328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6"/>
              </a:lnSpc>
            </a:pPr>
            <a:r>
              <a:rPr lang="en-US" sz="9984" spc="-499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RARE-DISEASE DETECTION USING DBSCAN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303" y="7935078"/>
            <a:ext cx="8264040" cy="189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3255" spc="322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Presented by:</a:t>
            </a:r>
          </a:p>
          <a:p>
            <a:pPr algn="ctr">
              <a:lnSpc>
                <a:spcPts val="2962"/>
              </a:lnSpc>
            </a:pPr>
            <a:r>
              <a:rPr lang="en-US" sz="3255" spc="322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          Aaskash.B-2520080039</a:t>
            </a:r>
          </a:p>
          <a:p>
            <a:pPr algn="ctr">
              <a:lnSpc>
                <a:spcPts val="2962"/>
              </a:lnSpc>
            </a:pPr>
            <a:r>
              <a:rPr lang="en-US" sz="3255" spc="322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       Pranav.R-2520090109</a:t>
            </a:r>
          </a:p>
          <a:p>
            <a:pPr algn="l">
              <a:lnSpc>
                <a:spcPts val="2962"/>
              </a:lnSpc>
            </a:pPr>
            <a:r>
              <a:rPr lang="en-US" sz="3255" spc="322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 </a:t>
            </a:r>
          </a:p>
          <a:p>
            <a:pPr marL="0" lvl="0" indent="0" algn="l">
              <a:lnSpc>
                <a:spcPts val="2962"/>
              </a:lnSpc>
            </a:pPr>
            <a:r>
              <a:rPr lang="en-US" sz="3255" spc="322">
                <a:solidFill>
                  <a:srgbClr val="1F191A"/>
                </a:solidFill>
                <a:latin typeface="Aileron"/>
                <a:ea typeface="Aileron"/>
                <a:cs typeface="Aileron"/>
                <a:sym typeface="Aileron"/>
              </a:rPr>
              <a:t>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95741" y="19050"/>
            <a:ext cx="5192898" cy="157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sz="159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Project Guide: Dr: Y.Lakshmi Prasanna </a:t>
            </a:r>
          </a:p>
          <a:p>
            <a:pPr algn="l">
              <a:lnSpc>
                <a:spcPts val="1543"/>
              </a:lnSpc>
            </a:pPr>
            <a:endParaRPr lang="en-US" sz="1591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543"/>
              </a:lnSpc>
            </a:pPr>
            <a:r>
              <a:rPr lang="en-US" sz="159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Department: CS &amp; IT , AIDS</a:t>
            </a:r>
          </a:p>
          <a:p>
            <a:pPr algn="l">
              <a:lnSpc>
                <a:spcPts val="1543"/>
              </a:lnSpc>
            </a:pPr>
            <a:endParaRPr lang="en-US" sz="1591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543"/>
              </a:lnSpc>
            </a:pPr>
            <a:r>
              <a:rPr lang="en-US" sz="159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College/University: KLH</a:t>
            </a:r>
          </a:p>
          <a:p>
            <a:pPr algn="l">
              <a:lnSpc>
                <a:spcPts val="1543"/>
              </a:lnSpc>
            </a:pPr>
            <a:endParaRPr lang="en-US" sz="1591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543"/>
              </a:lnSpc>
            </a:pPr>
            <a:r>
              <a:rPr lang="en-US" sz="159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Academic Year: 2026–2027</a:t>
            </a:r>
          </a:p>
          <a:p>
            <a:pPr algn="l">
              <a:lnSpc>
                <a:spcPts val="1543"/>
              </a:lnSpc>
            </a:pPr>
            <a:endParaRPr lang="en-US" sz="1591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10709" y="2272236"/>
            <a:ext cx="8425805" cy="8099305"/>
          </a:xfrm>
          <a:custGeom>
            <a:avLst/>
            <a:gdLst/>
            <a:ahLst/>
            <a:cxnLst/>
            <a:rect l="l" t="t" r="r" b="b"/>
            <a:pathLst>
              <a:path w="8425805" h="8099305">
                <a:moveTo>
                  <a:pt x="0" y="0"/>
                </a:moveTo>
                <a:lnTo>
                  <a:pt x="8425805" y="0"/>
                </a:lnTo>
                <a:lnTo>
                  <a:pt x="8425805" y="8099305"/>
                </a:lnTo>
                <a:lnTo>
                  <a:pt x="0" y="809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17551" y="1275413"/>
            <a:ext cx="8006494" cy="84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7998" spc="-399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553" y="3363990"/>
            <a:ext cx="9970788" cy="4723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5078" lvl="1" indent="-247539" algn="l">
              <a:lnSpc>
                <a:spcPts val="2224"/>
              </a:lnSpc>
              <a:buFont typeface="Arial"/>
              <a:buChar char="•"/>
            </a:pPr>
            <a:r>
              <a:rPr lang="en-US" sz="22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Machine learning is a branch of artificial intelligence that enables computers to identify patterns in data.</a:t>
            </a:r>
          </a:p>
          <a:p>
            <a:pPr marL="495078" lvl="1" indent="-247539" algn="l">
              <a:lnSpc>
                <a:spcPts val="2224"/>
              </a:lnSpc>
              <a:buFont typeface="Arial"/>
              <a:buChar char="•"/>
            </a:pPr>
            <a:r>
              <a:rPr lang="en-US" sz="22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Healthcare datasets contain information such as symptoms, clinical measurements, laboratory results and patient characteristics.</a:t>
            </a:r>
          </a:p>
          <a:p>
            <a:pPr marL="495078" lvl="1" indent="-247539" algn="l">
              <a:lnSpc>
                <a:spcPts val="2224"/>
              </a:lnSpc>
              <a:buFont typeface="Arial"/>
              <a:buChar char="•"/>
            </a:pPr>
            <a:r>
              <a:rPr lang="en-US" sz="22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Rare diseases can be difficult to investigate because some conditions affect relatively few people and may have limited available data.</a:t>
            </a:r>
          </a:p>
          <a:p>
            <a:pPr marL="495078" lvl="1" indent="-247539" algn="l">
              <a:lnSpc>
                <a:spcPts val="2224"/>
              </a:lnSpc>
              <a:buFont typeface="Arial"/>
              <a:buChar char="•"/>
            </a:pPr>
            <a:r>
              <a:rPr lang="en-US" sz="22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Traditional data-analysis methods may not easily reveal complex relationships among multiple medical features.</a:t>
            </a:r>
          </a:p>
          <a:p>
            <a:pPr marL="495078" lvl="1" indent="-247539" algn="l">
              <a:lnSpc>
                <a:spcPts val="2224"/>
              </a:lnSpc>
              <a:buFont typeface="Arial"/>
              <a:buChar char="•"/>
            </a:pPr>
            <a:r>
              <a:rPr lang="en-US" sz="22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Unsupervised learning can explore the underlying structure of data without requiring predefined class labels.</a:t>
            </a:r>
          </a:p>
          <a:p>
            <a:pPr marL="495078" lvl="1" indent="-247539" algn="l">
              <a:lnSpc>
                <a:spcPts val="2224"/>
              </a:lnSpc>
              <a:buFont typeface="Arial"/>
              <a:buChar char="•"/>
            </a:pPr>
            <a:r>
              <a:rPr lang="en-US" sz="22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DBSCAN is a density-based clustering algorithm that groups closely connected observations and identifies noise points.</a:t>
            </a:r>
          </a:p>
          <a:p>
            <a:pPr marL="495078" lvl="1" indent="-247539" algn="l">
              <a:lnSpc>
                <a:spcPts val="2224"/>
              </a:lnSpc>
              <a:buFont typeface="Arial"/>
              <a:buChar char="•"/>
            </a:pPr>
            <a:r>
              <a:rPr lang="en-US" sz="22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This project explores how DBSCAN can support the analysis of unusual patterns in medical datasets.</a:t>
            </a:r>
          </a:p>
          <a:p>
            <a:pPr algn="l">
              <a:lnSpc>
                <a:spcPts val="2224"/>
              </a:lnSpc>
            </a:pPr>
            <a:endParaRPr lang="en-US" sz="2293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2400" y="161976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95265" y="2740978"/>
            <a:ext cx="9441366" cy="7517688"/>
          </a:xfrm>
          <a:custGeom>
            <a:avLst/>
            <a:gdLst/>
            <a:ahLst/>
            <a:cxnLst/>
            <a:rect l="l" t="t" r="r" b="b"/>
            <a:pathLst>
              <a:path w="9441366" h="7517688">
                <a:moveTo>
                  <a:pt x="0" y="0"/>
                </a:moveTo>
                <a:lnTo>
                  <a:pt x="9441366" y="0"/>
                </a:lnTo>
                <a:lnTo>
                  <a:pt x="9441366" y="7517688"/>
                </a:lnTo>
                <a:lnTo>
                  <a:pt x="0" y="7517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29000" y="1277634"/>
            <a:ext cx="9081460" cy="220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2"/>
              </a:lnSpc>
            </a:pPr>
            <a:r>
              <a:rPr lang="en-US" sz="9676" spc="-483" dirty="0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PROBLEM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163" y="4215685"/>
            <a:ext cx="8338661" cy="3134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007" lvl="1" indent="-254504" algn="l">
              <a:lnSpc>
                <a:spcPts val="2286"/>
              </a:lnSpc>
              <a:buFont typeface="Arial"/>
              <a:buChar char="•"/>
            </a:pPr>
            <a:r>
              <a:rPr lang="en-US" sz="235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Medical datasets may contain complex patterns that are difficult to identify manually.</a:t>
            </a:r>
          </a:p>
          <a:p>
            <a:pPr marL="509007" lvl="1" indent="-254504" algn="l">
              <a:lnSpc>
                <a:spcPts val="2286"/>
              </a:lnSpc>
              <a:buFont typeface="Arial"/>
              <a:buChar char="•"/>
            </a:pPr>
            <a:r>
              <a:rPr lang="en-US" sz="235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Rare medical cases may not form large, clearly defined groups.</a:t>
            </a:r>
          </a:p>
          <a:p>
            <a:pPr marL="509007" lvl="1" indent="-254504" algn="l">
              <a:lnSpc>
                <a:spcPts val="2286"/>
              </a:lnSpc>
              <a:buFont typeface="Arial"/>
              <a:buChar char="•"/>
            </a:pPr>
            <a:r>
              <a:rPr lang="en-US" sz="235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Supervised learning approaches require labeled training data.</a:t>
            </a:r>
          </a:p>
          <a:p>
            <a:pPr marL="509007" lvl="1" indent="-254504" algn="l">
              <a:lnSpc>
                <a:spcPts val="2286"/>
              </a:lnSpc>
              <a:buFont typeface="Arial"/>
              <a:buChar char="•"/>
            </a:pPr>
            <a:r>
              <a:rPr lang="en-US" sz="235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Traditional clustering algorithms may require the number of clusters to be specified beforehand.</a:t>
            </a:r>
          </a:p>
          <a:p>
            <a:pPr marL="509007" lvl="1" indent="-254504" algn="l">
              <a:lnSpc>
                <a:spcPts val="2286"/>
              </a:lnSpc>
              <a:buFont typeface="Arial"/>
              <a:buChar char="•"/>
            </a:pPr>
            <a:r>
              <a:rPr lang="en-US" sz="235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objective is to apply density-based clustering to identify unusual patterns in medical data.</a:t>
            </a:r>
          </a:p>
          <a:p>
            <a:pPr algn="l">
              <a:lnSpc>
                <a:spcPts val="2286"/>
              </a:lnSpc>
            </a:pPr>
            <a:endParaRPr lang="en-US" sz="2357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237478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4" y="0"/>
                </a:lnTo>
                <a:lnTo>
                  <a:pt x="3164484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4411200"/>
            <a:ext cx="7759879" cy="5742311"/>
          </a:xfrm>
          <a:custGeom>
            <a:avLst/>
            <a:gdLst/>
            <a:ahLst/>
            <a:cxnLst/>
            <a:rect l="l" t="t" r="r" b="b"/>
            <a:pathLst>
              <a:path w="7759879" h="5742311">
                <a:moveTo>
                  <a:pt x="7759879" y="0"/>
                </a:moveTo>
                <a:lnTo>
                  <a:pt x="0" y="0"/>
                </a:lnTo>
                <a:lnTo>
                  <a:pt x="0" y="5742311"/>
                </a:lnTo>
                <a:lnTo>
                  <a:pt x="7759879" y="5742311"/>
                </a:lnTo>
                <a:lnTo>
                  <a:pt x="77598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17868" y="1023624"/>
            <a:ext cx="7850865" cy="1036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8492" spc="-424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66485" y="3167192"/>
            <a:ext cx="9772742" cy="441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7083" lvl="1" indent="-193542" algn="l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Healthcare analytics: Apply machine learning to extract useful patterns from medical data.</a:t>
            </a:r>
          </a:p>
          <a:p>
            <a:pPr marL="387083" lvl="1" indent="-193542" algn="l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Unsupervised learning: Explore datasets even when disease labels are unavailable.</a:t>
            </a:r>
          </a:p>
          <a:p>
            <a:pPr marL="387083" lvl="1" indent="-193542" algn="l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Anomaly detection: Identify observations that differ from dense regions of the dataset.</a:t>
            </a:r>
          </a:p>
          <a:p>
            <a:pPr marL="387083" lvl="1" indent="-193542" algn="l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Data-driven research: Support the exploration of uncommon feature combinations.</a:t>
            </a:r>
          </a:p>
          <a:p>
            <a:pPr marL="387083" lvl="1" indent="-193542" algn="l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Algorithmic learning: Understand how distance metrics and local density influence clustering.</a:t>
            </a:r>
          </a:p>
          <a:p>
            <a:pPr marL="387083" lvl="1" indent="-193542" algn="l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Practical implementation: Build a Python-based application that presents data-analysis results.</a:t>
            </a:r>
          </a:p>
          <a:p>
            <a:pPr marL="387083" lvl="1" indent="-193542" algn="l">
              <a:lnSpc>
                <a:spcPts val="2510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motivation is to investigate whether density-based clustering can help researchers explore medical records more effectively.</a:t>
            </a:r>
          </a:p>
        </p:txBody>
      </p:sp>
      <p:sp>
        <p:nvSpPr>
          <p:cNvPr id="5" name="Freeform 5"/>
          <p:cNvSpPr/>
          <p:nvPr/>
        </p:nvSpPr>
        <p:spPr>
          <a:xfrm>
            <a:off x="228600" y="6145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66240" y="4949964"/>
            <a:ext cx="8393060" cy="5602368"/>
          </a:xfrm>
          <a:custGeom>
            <a:avLst/>
            <a:gdLst/>
            <a:ahLst/>
            <a:cxnLst/>
            <a:rect l="l" t="t" r="r" b="b"/>
            <a:pathLst>
              <a:path w="8393060" h="5602368">
                <a:moveTo>
                  <a:pt x="0" y="0"/>
                </a:moveTo>
                <a:lnTo>
                  <a:pt x="8393060" y="0"/>
                </a:lnTo>
                <a:lnTo>
                  <a:pt x="8393060" y="5602368"/>
                </a:lnTo>
                <a:lnTo>
                  <a:pt x="0" y="5602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87799" y="676189"/>
            <a:ext cx="8329864" cy="102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3"/>
              </a:lnSpc>
            </a:pPr>
            <a:r>
              <a:rPr lang="en-US" sz="8797" spc="-439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9394" y="2085764"/>
            <a:ext cx="8332106" cy="5285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 implement DBSCAN clustering for exploratory analysis of medical data and identification of potentially anomalous observations.</a:t>
            </a:r>
          </a:p>
          <a:p>
            <a:pPr algn="l">
              <a:lnSpc>
                <a:spcPts val="2178"/>
              </a:lnSpc>
            </a:pPr>
            <a:endParaRPr lang="en-US" sz="2246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178"/>
              </a:lnSpc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Specific objectives-</a:t>
            </a:r>
          </a:p>
          <a:p>
            <a:pPr algn="l">
              <a:lnSpc>
                <a:spcPts val="2178"/>
              </a:lnSpc>
            </a:pPr>
            <a:endParaRPr lang="en-US" sz="2246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Load and inspect the input dataset.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Perform exploratory data analysis (EDA).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Identify relevant features for clustering.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Apply suitable data preprocessing and feature scaling.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Configure DBSCAN hyperparameters.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Assign cluster labels to observations.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Identify noise points using the assigned labels.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Visualize cluster distributions and unusual observations.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Evaluate clustering quality using appropriate metrics, where possible.</a:t>
            </a:r>
          </a:p>
          <a:p>
            <a:pPr marL="484948" lvl="1" indent="-242474" algn="just">
              <a:lnSpc>
                <a:spcPts val="2178"/>
              </a:lnSpc>
              <a:buAutoNum type="arabicPeriod"/>
            </a:pPr>
            <a:r>
              <a:rPr lang="en-US" sz="2246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Discuss limitations and possible improvements.</a:t>
            </a:r>
          </a:p>
          <a:p>
            <a:pPr algn="l">
              <a:lnSpc>
                <a:spcPts val="2178"/>
              </a:lnSpc>
            </a:pPr>
            <a:endParaRPr lang="en-US" sz="2246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2400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4" y="0"/>
                </a:lnTo>
                <a:lnTo>
                  <a:pt x="3164484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89582" y="3518117"/>
            <a:ext cx="8498418" cy="6310075"/>
          </a:xfrm>
          <a:custGeom>
            <a:avLst/>
            <a:gdLst/>
            <a:ahLst/>
            <a:cxnLst/>
            <a:rect l="l" t="t" r="r" b="b"/>
            <a:pathLst>
              <a:path w="8498418" h="6310075">
                <a:moveTo>
                  <a:pt x="0" y="0"/>
                </a:moveTo>
                <a:lnTo>
                  <a:pt x="8498418" y="0"/>
                </a:lnTo>
                <a:lnTo>
                  <a:pt x="8498418" y="6310075"/>
                </a:lnTo>
                <a:lnTo>
                  <a:pt x="0" y="6310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02685" y="776139"/>
            <a:ext cx="8321154" cy="19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1"/>
              </a:lnSpc>
            </a:pPr>
            <a:r>
              <a:rPr lang="en-US" sz="8479" spc="-423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EXISTING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185" y="3159602"/>
            <a:ext cx="9818682" cy="243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 i="1">
                <a:solidFill>
                  <a:srgbClr val="2E2E2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Existing approaches to medical data analysis include manual examination, rule-based systems, supervised classification, and traditional clustering algorithms.</a:t>
            </a:r>
          </a:p>
          <a:p>
            <a:pPr algn="l">
              <a:lnSpc>
                <a:spcPts val="2139"/>
              </a:lnSpc>
            </a:pPr>
            <a:endParaRPr lang="en-US" sz="2205" i="1">
              <a:solidFill>
                <a:srgbClr val="2E2E2E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algn="l">
              <a:lnSpc>
                <a:spcPts val="2139"/>
              </a:lnSpc>
            </a:pPr>
            <a:r>
              <a:rPr lang="en-US" sz="2205" i="1">
                <a:solidFill>
                  <a:srgbClr val="2E2E2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1. Manual analysis</a:t>
            </a:r>
          </a:p>
          <a:p>
            <a:pPr algn="l">
              <a:lnSpc>
                <a:spcPts val="2139"/>
              </a:lnSpc>
            </a:pPr>
            <a:r>
              <a:rPr lang="en-US" sz="2205" i="1">
                <a:solidFill>
                  <a:srgbClr val="2E2E2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Experts inspect records and measurements to identify unusual cases.</a:t>
            </a:r>
          </a:p>
          <a:p>
            <a:pPr algn="l">
              <a:lnSpc>
                <a:spcPts val="2139"/>
              </a:lnSpc>
            </a:pPr>
            <a:r>
              <a:rPr lang="en-US" sz="2205" i="1">
                <a:solidFill>
                  <a:srgbClr val="2E2E2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Limitation: Time-consuming for large datasets and dependent on human expertise.</a:t>
            </a:r>
          </a:p>
          <a:p>
            <a:pPr algn="l">
              <a:lnSpc>
                <a:spcPts val="2139"/>
              </a:lnSpc>
            </a:pPr>
            <a:endParaRPr lang="en-US" sz="2205" i="1">
              <a:solidFill>
                <a:srgbClr val="2E2E2E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1009" y="6033908"/>
            <a:ext cx="9989858" cy="20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 exploratory data analysis (EDA) on the medical dataset.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data preprocessing and feature scaling.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the DBSCAN clustering algorithm.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dense clusters and noise points.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Visualize clustering results and evaluate model performance where reference labels are available</a:t>
            </a:r>
          </a:p>
        </p:txBody>
      </p:sp>
      <p:sp>
        <p:nvSpPr>
          <p:cNvPr id="6" name="Freeform 6"/>
          <p:cNvSpPr/>
          <p:nvPr/>
        </p:nvSpPr>
        <p:spPr>
          <a:xfrm>
            <a:off x="9832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4231" y="304800"/>
            <a:ext cx="14005380" cy="1271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69"/>
              </a:lnSpc>
            </a:pPr>
            <a:r>
              <a:rPr lang="en-US" sz="10415" spc="-520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PROPOSED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23994" y="3668991"/>
            <a:ext cx="4215950" cy="466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6"/>
              </a:lnSpc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Working process: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Load the dataset from a CSV file.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Inspect and prepare the input features.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Handle missing or invalid values where required.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Scale numerical features when appropriate.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Configure the DBSCAN parameters.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Perform density-based clustering.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Extract cluster labels and noise observations.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Display and interpret the results.</a:t>
            </a:r>
          </a:p>
          <a:p>
            <a:pPr algn="l">
              <a:lnSpc>
                <a:spcPts val="2036"/>
              </a:lnSpc>
            </a:pPr>
            <a:endParaRPr lang="en-US" sz="20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861617" y="3942715"/>
            <a:ext cx="4215950" cy="242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9"/>
              </a:lnSpc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Expected output: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Cluster assignment for each observation.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Number of clusters identified.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Number of noise points.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Distribution of observations across clusters.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Visual representation of the clustering results.</a:t>
            </a:r>
          </a:p>
          <a:p>
            <a:pPr algn="l">
              <a:lnSpc>
                <a:spcPts val="1939"/>
              </a:lnSpc>
            </a:pPr>
            <a:endParaRPr lang="en-US" sz="19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20252" y="9403620"/>
            <a:ext cx="7328392" cy="56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proposed system applies DBSCAN to a prepared medical feature matrix.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01223" y="2065848"/>
            <a:ext cx="7647422" cy="493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Improvement over basic clustering: DBSCAN explicitly identifies noise and does not require a predefined cluster count.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-253559" y="2046798"/>
            <a:ext cx="7395581" cy="8240202"/>
          </a:xfrm>
          <a:custGeom>
            <a:avLst/>
            <a:gdLst/>
            <a:ahLst/>
            <a:cxnLst/>
            <a:rect l="l" t="t" r="r" b="b"/>
            <a:pathLst>
              <a:path w="7395581" h="8240202">
                <a:moveTo>
                  <a:pt x="7395581" y="0"/>
                </a:moveTo>
                <a:lnTo>
                  <a:pt x="0" y="0"/>
                </a:lnTo>
                <a:lnTo>
                  <a:pt x="0" y="8240202"/>
                </a:lnTo>
                <a:lnTo>
                  <a:pt x="7395581" y="8240202"/>
                </a:lnTo>
                <a:lnTo>
                  <a:pt x="73955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400" y="13519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6209" y="1982532"/>
            <a:ext cx="7367417" cy="7764570"/>
          </a:xfrm>
          <a:custGeom>
            <a:avLst/>
            <a:gdLst/>
            <a:ahLst/>
            <a:cxnLst/>
            <a:rect l="l" t="t" r="r" b="b"/>
            <a:pathLst>
              <a:path w="7367417" h="7764570">
                <a:moveTo>
                  <a:pt x="0" y="0"/>
                </a:moveTo>
                <a:lnTo>
                  <a:pt x="7367417" y="0"/>
                </a:lnTo>
                <a:lnTo>
                  <a:pt x="7367417" y="7764570"/>
                </a:lnTo>
                <a:lnTo>
                  <a:pt x="0" y="776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03" t="-259" r="-530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01089" y="466725"/>
            <a:ext cx="13192808" cy="295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9"/>
              </a:lnSpc>
            </a:pPr>
            <a:r>
              <a:rPr lang="en-US" sz="9011" spc="-450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SYSTEM ARCHITECTURE</a:t>
            </a:r>
          </a:p>
          <a:p>
            <a:pPr algn="l">
              <a:lnSpc>
                <a:spcPts val="7569"/>
              </a:lnSpc>
            </a:pPr>
            <a:endParaRPr lang="en-US" sz="9011" spc="-450">
              <a:solidFill>
                <a:srgbClr val="B8768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7569"/>
              </a:lnSpc>
            </a:pPr>
            <a:endParaRPr lang="en-US" sz="9011" spc="-450">
              <a:solidFill>
                <a:srgbClr val="B87680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66958" y="1028700"/>
            <a:ext cx="6692342" cy="9526466"/>
          </a:xfrm>
          <a:custGeom>
            <a:avLst/>
            <a:gdLst/>
            <a:ahLst/>
            <a:cxnLst/>
            <a:rect l="l" t="t" r="r" b="b"/>
            <a:pathLst>
              <a:path w="6692342" h="9526466">
                <a:moveTo>
                  <a:pt x="0" y="0"/>
                </a:moveTo>
                <a:lnTo>
                  <a:pt x="6692342" y="0"/>
                </a:lnTo>
                <a:lnTo>
                  <a:pt x="6692342" y="9526466"/>
                </a:lnTo>
                <a:lnTo>
                  <a:pt x="0" y="952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77106" y="323671"/>
            <a:ext cx="15786115" cy="2156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2"/>
              </a:lnSpc>
            </a:pPr>
            <a:r>
              <a:rPr lang="en-US" sz="10961" spc="-548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METHODOLOGY /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7448" y="3011946"/>
            <a:ext cx="8098502" cy="493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methodology describes the sequence of operations performed by the machine learning system.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7448" y="3867545"/>
            <a:ext cx="9338043" cy="3536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Data acquisition: Read the dataset from a CSV file using Pandas.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Data understanding: Inspect rows, columns, data types and statistical summaries.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Exploratory data analysis: Study distributions, missing values and relationships among features.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Data preprocessing: Clean the dataset and handle missing or invalid values.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 selection: Choose relevant features for the clustering task.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 scaling: Standardize or normalize numerical values if necessary.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Hyperparameter configuration: Set the eps and min_samples parameters.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Model fitting: Apply DBSCAN to the prepared feature matrix.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Cluster assignment: Obtain a label for each observation.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Noise detection: Identify observations labeled -1.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Visualization: Plot clusters and unusual observations.</a:t>
            </a:r>
          </a:p>
          <a:p>
            <a:pPr marL="388618" lvl="1" indent="-194309" algn="l">
              <a:lnSpc>
                <a:spcPts val="1745"/>
              </a:lnSpc>
              <a:buFont typeface="Arial"/>
              <a:buChar char="•"/>
            </a:pPr>
            <a:r>
              <a:rPr lang="en-US" sz="17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Evaluation: Analyze cluster quality and compare with reference labels if available.</a:t>
            </a:r>
          </a:p>
          <a:p>
            <a:pPr algn="l">
              <a:lnSpc>
                <a:spcPts val="1745"/>
              </a:lnSpc>
            </a:pPr>
            <a:endParaRPr lang="en-US" sz="17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37448" y="8071406"/>
            <a:ext cx="10632133" cy="51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9"/>
              </a:lnSpc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Workflow diagram: Dataset → EDA → Preprocessing → Feature Scaling → DBSCAN → Cluster Assignment → Noise Analysis → Visualization.</a:t>
            </a:r>
          </a:p>
        </p:txBody>
      </p:sp>
      <p:sp>
        <p:nvSpPr>
          <p:cNvPr id="7" name="Freeform 7"/>
          <p:cNvSpPr/>
          <p:nvPr/>
        </p:nvSpPr>
        <p:spPr>
          <a:xfrm>
            <a:off x="152400" y="82384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06180"/>
            <a:ext cx="7274852" cy="6992952"/>
          </a:xfrm>
          <a:custGeom>
            <a:avLst/>
            <a:gdLst/>
            <a:ahLst/>
            <a:cxnLst/>
            <a:rect l="l" t="t" r="r" b="b"/>
            <a:pathLst>
              <a:path w="7274852" h="6992952">
                <a:moveTo>
                  <a:pt x="0" y="0"/>
                </a:moveTo>
                <a:lnTo>
                  <a:pt x="7274852" y="0"/>
                </a:lnTo>
                <a:lnTo>
                  <a:pt x="7274852" y="6992952"/>
                </a:lnTo>
                <a:lnTo>
                  <a:pt x="0" y="6992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98628" y="1465739"/>
            <a:ext cx="9479101" cy="4080882"/>
          </a:xfrm>
          <a:custGeom>
            <a:avLst/>
            <a:gdLst/>
            <a:ahLst/>
            <a:cxnLst/>
            <a:rect l="l" t="t" r="r" b="b"/>
            <a:pathLst>
              <a:path w="9479101" h="4080882">
                <a:moveTo>
                  <a:pt x="0" y="0"/>
                </a:moveTo>
                <a:lnTo>
                  <a:pt x="9479101" y="0"/>
                </a:lnTo>
                <a:lnTo>
                  <a:pt x="9479101" y="4080882"/>
                </a:lnTo>
                <a:lnTo>
                  <a:pt x="0" y="4080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28392" y="285750"/>
            <a:ext cx="14166821" cy="240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15"/>
              </a:lnSpc>
            </a:pPr>
            <a:r>
              <a:rPr lang="en-US" sz="10127" spc="-506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TECHNOLOGY STACK</a:t>
            </a:r>
          </a:p>
          <a:p>
            <a:pPr algn="l">
              <a:lnSpc>
                <a:spcPts val="9115"/>
              </a:lnSpc>
            </a:pPr>
            <a:endParaRPr lang="en-US" sz="10127" spc="-506">
              <a:solidFill>
                <a:srgbClr val="B87680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4000" y="6216154"/>
            <a:ext cx="7129062" cy="227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207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Why Python?</a:t>
            </a:r>
          </a:p>
          <a:p>
            <a:pPr marL="447297" lvl="1" indent="-223648" algn="l">
              <a:lnSpc>
                <a:spcPts val="2009"/>
              </a:lnSpc>
              <a:buFont typeface="Arial"/>
              <a:buChar char="•"/>
            </a:pPr>
            <a:r>
              <a:rPr lang="en-US" sz="207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Provides widely used machine learning libraries.</a:t>
            </a:r>
          </a:p>
          <a:p>
            <a:pPr marL="447297" lvl="1" indent="-223648" algn="l">
              <a:lnSpc>
                <a:spcPts val="2009"/>
              </a:lnSpc>
              <a:buFont typeface="Arial"/>
              <a:buChar char="•"/>
            </a:pPr>
            <a:r>
              <a:rPr lang="en-US" sz="207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Supports efficient data manipulation.</a:t>
            </a:r>
          </a:p>
          <a:p>
            <a:pPr marL="447297" lvl="1" indent="-223648" algn="l">
              <a:lnSpc>
                <a:spcPts val="2009"/>
              </a:lnSpc>
              <a:buFont typeface="Arial"/>
              <a:buChar char="•"/>
            </a:pPr>
            <a:r>
              <a:rPr lang="en-US" sz="207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Has a large ecosystem for scientific computing.</a:t>
            </a:r>
          </a:p>
          <a:p>
            <a:pPr marL="447297" lvl="1" indent="-223648" algn="l">
              <a:lnSpc>
                <a:spcPts val="2009"/>
              </a:lnSpc>
              <a:buFont typeface="Arial"/>
              <a:buChar char="•"/>
            </a:pPr>
            <a:r>
              <a:rPr lang="en-US" sz="207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Makes it easy to integrate data processing, clustering and visualization.</a:t>
            </a:r>
          </a:p>
          <a:p>
            <a:pPr algn="l">
              <a:lnSpc>
                <a:spcPts val="2009"/>
              </a:lnSpc>
            </a:pPr>
            <a:r>
              <a:rPr lang="en-US" sz="207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exact libraries should match your requirements.txt file.</a:t>
            </a:r>
          </a:p>
          <a:p>
            <a:pPr algn="l">
              <a:lnSpc>
                <a:spcPts val="2009"/>
              </a:lnSpc>
            </a:pPr>
            <a:endParaRPr lang="en-US" sz="2071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87725" y="3044095"/>
            <a:ext cx="8115300" cy="7242905"/>
          </a:xfrm>
          <a:custGeom>
            <a:avLst/>
            <a:gdLst/>
            <a:ahLst/>
            <a:cxnLst/>
            <a:rect l="l" t="t" r="r" b="b"/>
            <a:pathLst>
              <a:path w="8115300" h="7242905">
                <a:moveTo>
                  <a:pt x="0" y="0"/>
                </a:moveTo>
                <a:lnTo>
                  <a:pt x="8115300" y="0"/>
                </a:lnTo>
                <a:lnTo>
                  <a:pt x="8115300" y="7242905"/>
                </a:lnTo>
                <a:lnTo>
                  <a:pt x="0" y="7242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0488" y="213188"/>
            <a:ext cx="15525597" cy="2225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6"/>
              </a:lnSpc>
            </a:pPr>
            <a:r>
              <a:rPr lang="en-US" sz="9984" spc="-499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SYSTEM MODULES / COMPONENTS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4045" y="2496215"/>
            <a:ext cx="9751489" cy="74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Module 1: Data ingestion</a:t>
            </a: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Loads the dataset and makes it available for further processing.</a:t>
            </a:r>
          </a:p>
          <a:p>
            <a:pPr algn="l">
              <a:lnSpc>
                <a:spcPts val="2052"/>
              </a:lnSpc>
            </a:pPr>
            <a:endParaRPr lang="en-US" sz="2255" spc="223">
              <a:solidFill>
                <a:srgbClr val="1F191A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Module 2: Data preprocessing</a:t>
            </a: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Checks for missing values, duplicates, inconsistent formats and unsuitable data types.</a:t>
            </a:r>
          </a:p>
          <a:p>
            <a:pPr algn="l">
              <a:lnSpc>
                <a:spcPts val="2052"/>
              </a:lnSpc>
            </a:pPr>
            <a:endParaRPr lang="en-US" sz="2255" spc="223">
              <a:solidFill>
                <a:srgbClr val="1F191A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Module 3: Feature processing</a:t>
            </a: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Selects relevant attributes and prepares the numerical feature matrix. Feature scaling is especially important when Euclidean distance is used and features have different measurement ranges.</a:t>
            </a:r>
          </a:p>
          <a:p>
            <a:pPr algn="l">
              <a:lnSpc>
                <a:spcPts val="2052"/>
              </a:lnSpc>
            </a:pPr>
            <a:endParaRPr lang="en-US" sz="2255" spc="223">
              <a:solidFill>
                <a:srgbClr val="1F191A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Module 4: DBSCAN clustering</a:t>
            </a: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Computes density-based neighborhoods and identifies core points, border points and noise points.</a:t>
            </a:r>
          </a:p>
          <a:p>
            <a:pPr algn="l">
              <a:lnSpc>
                <a:spcPts val="2052"/>
              </a:lnSpc>
            </a:pPr>
            <a:endParaRPr lang="en-US" sz="2255" spc="223">
              <a:solidFill>
                <a:srgbClr val="1F191A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Module 5: Anomaly analysis</a:t>
            </a: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Examines records labeled as noise and summarizes their characteristics.</a:t>
            </a:r>
          </a:p>
          <a:p>
            <a:pPr algn="l">
              <a:lnSpc>
                <a:spcPts val="2052"/>
              </a:lnSpc>
            </a:pPr>
            <a:endParaRPr lang="en-US" sz="2255" spc="223">
              <a:solidFill>
                <a:srgbClr val="1F191A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Module 6: Visualization</a:t>
            </a: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Presents the cluster structure, noise observations and summary statistics.</a:t>
            </a:r>
          </a:p>
          <a:p>
            <a:pPr algn="l">
              <a:lnSpc>
                <a:spcPts val="2052"/>
              </a:lnSpc>
            </a:pPr>
            <a:endParaRPr lang="en-US" sz="2255" spc="223">
              <a:solidFill>
                <a:srgbClr val="1F191A"/>
              </a:solidFill>
              <a:latin typeface="Aileron Light"/>
              <a:ea typeface="Aileron Light"/>
              <a:cs typeface="Aileron Light"/>
              <a:sym typeface="Aileron Light"/>
            </a:endParaRP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Module 7: Evaluation</a:t>
            </a:r>
          </a:p>
          <a:p>
            <a:pPr algn="l">
              <a:lnSpc>
                <a:spcPts val="2052"/>
              </a:lnSpc>
            </a:pPr>
            <a:r>
              <a:rPr lang="en-US" sz="2255" spc="223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Assesses clustering quality with appropriate internal metrics or reference labels, where available.</a:t>
            </a:r>
          </a:p>
          <a:p>
            <a:pPr marL="0" lvl="0" indent="0" algn="l">
              <a:lnSpc>
                <a:spcPts val="2052"/>
              </a:lnSpc>
            </a:pPr>
            <a:endParaRPr lang="en-US" sz="2255" spc="223">
              <a:solidFill>
                <a:srgbClr val="1F191A"/>
              </a:solidFill>
              <a:latin typeface="Aileron Light"/>
              <a:ea typeface="Aileron Light"/>
              <a:cs typeface="Aileron Light"/>
              <a:sym typeface="Aileron Ligh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33495" y="2469733"/>
            <a:ext cx="8425805" cy="8099305"/>
          </a:xfrm>
          <a:custGeom>
            <a:avLst/>
            <a:gdLst/>
            <a:ahLst/>
            <a:cxnLst/>
            <a:rect l="l" t="t" r="r" b="b"/>
            <a:pathLst>
              <a:path w="8425805" h="8099305">
                <a:moveTo>
                  <a:pt x="0" y="0"/>
                </a:moveTo>
                <a:lnTo>
                  <a:pt x="8425805" y="0"/>
                </a:lnTo>
                <a:lnTo>
                  <a:pt x="8425805" y="8099305"/>
                </a:lnTo>
                <a:lnTo>
                  <a:pt x="0" y="8099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0426" y="2003855"/>
            <a:ext cx="5148241" cy="1339004"/>
          </a:xfrm>
          <a:custGeom>
            <a:avLst/>
            <a:gdLst/>
            <a:ahLst/>
            <a:cxnLst/>
            <a:rect l="l" t="t" r="r" b="b"/>
            <a:pathLst>
              <a:path w="5148241" h="1339004">
                <a:moveTo>
                  <a:pt x="0" y="0"/>
                </a:moveTo>
                <a:lnTo>
                  <a:pt x="5148241" y="0"/>
                </a:lnTo>
                <a:lnTo>
                  <a:pt x="5148241" y="1339005"/>
                </a:lnTo>
                <a:lnTo>
                  <a:pt x="0" y="1339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1563" y="3629735"/>
            <a:ext cx="5705966" cy="1472382"/>
          </a:xfrm>
          <a:custGeom>
            <a:avLst/>
            <a:gdLst/>
            <a:ahLst/>
            <a:cxnLst/>
            <a:rect l="l" t="t" r="r" b="b"/>
            <a:pathLst>
              <a:path w="5705966" h="1472382">
                <a:moveTo>
                  <a:pt x="0" y="0"/>
                </a:moveTo>
                <a:lnTo>
                  <a:pt x="5705966" y="0"/>
                </a:lnTo>
                <a:lnTo>
                  <a:pt x="5705966" y="1472382"/>
                </a:lnTo>
                <a:lnTo>
                  <a:pt x="0" y="1472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06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6836" y="5521691"/>
            <a:ext cx="6646343" cy="1441529"/>
          </a:xfrm>
          <a:custGeom>
            <a:avLst/>
            <a:gdLst/>
            <a:ahLst/>
            <a:cxnLst/>
            <a:rect l="l" t="t" r="r" b="b"/>
            <a:pathLst>
              <a:path w="6646343" h="1441529">
                <a:moveTo>
                  <a:pt x="0" y="0"/>
                </a:moveTo>
                <a:lnTo>
                  <a:pt x="6646343" y="0"/>
                </a:lnTo>
                <a:lnTo>
                  <a:pt x="6646343" y="1441529"/>
                </a:lnTo>
                <a:lnTo>
                  <a:pt x="0" y="1441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50748" y="7382320"/>
            <a:ext cx="6550279" cy="2311086"/>
          </a:xfrm>
          <a:custGeom>
            <a:avLst/>
            <a:gdLst/>
            <a:ahLst/>
            <a:cxnLst/>
            <a:rect l="l" t="t" r="r" b="b"/>
            <a:pathLst>
              <a:path w="6550279" h="2311086">
                <a:moveTo>
                  <a:pt x="0" y="0"/>
                </a:moveTo>
                <a:lnTo>
                  <a:pt x="6550279" y="0"/>
                </a:lnTo>
                <a:lnTo>
                  <a:pt x="6550279" y="2311086"/>
                </a:lnTo>
                <a:lnTo>
                  <a:pt x="0" y="2311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41739" y="514350"/>
            <a:ext cx="13708383" cy="84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7998" spc="-399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IMPLEMENTATION DETAILS</a:t>
            </a:r>
          </a:p>
        </p:txBody>
      </p:sp>
      <p:sp>
        <p:nvSpPr>
          <p:cNvPr id="8" name="Freeform 8"/>
          <p:cNvSpPr/>
          <p:nvPr/>
        </p:nvSpPr>
        <p:spPr>
          <a:xfrm>
            <a:off x="-9937" y="-3568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32470" y="2987968"/>
            <a:ext cx="9441366" cy="7517688"/>
          </a:xfrm>
          <a:custGeom>
            <a:avLst/>
            <a:gdLst/>
            <a:ahLst/>
            <a:cxnLst/>
            <a:rect l="l" t="t" r="r" b="b"/>
            <a:pathLst>
              <a:path w="9441366" h="7517688">
                <a:moveTo>
                  <a:pt x="0" y="0"/>
                </a:moveTo>
                <a:lnTo>
                  <a:pt x="9441367" y="0"/>
                </a:lnTo>
                <a:lnTo>
                  <a:pt x="9441367" y="7517688"/>
                </a:lnTo>
                <a:lnTo>
                  <a:pt x="0" y="7517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76600" y="213869"/>
            <a:ext cx="16289869" cy="429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2"/>
              </a:lnSpc>
            </a:pPr>
            <a:r>
              <a:rPr lang="en-US" sz="9000" spc="-483" dirty="0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DATASET DESCRIPTION AND PREPROCESSING</a:t>
            </a:r>
          </a:p>
          <a:p>
            <a:pPr algn="l">
              <a:lnSpc>
                <a:spcPts val="8322"/>
              </a:lnSpc>
            </a:pPr>
            <a:endParaRPr lang="en-US" sz="9000" spc="-483" dirty="0">
              <a:solidFill>
                <a:srgbClr val="B8768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8322"/>
              </a:lnSpc>
            </a:pPr>
            <a:endParaRPr lang="en-US" sz="9000" spc="-483" dirty="0">
              <a:solidFill>
                <a:srgbClr val="B87680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65905" y="2640425"/>
            <a:ext cx="4983634" cy="3769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Dataset description</a:t>
            </a:r>
          </a:p>
          <a:p>
            <a:pPr algn="l">
              <a:lnSpc>
                <a:spcPts val="2133"/>
              </a:lnSpc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Explain the characteristics of the input dataset.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Samples: Number of rows or observations.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Features: Attributes used to represent each observation.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 types: Numerical, categorical or binary variables.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Source: Origin of the dataset.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Target labels: Whether verified disease labels are available for evaluation.</a:t>
            </a:r>
          </a:p>
          <a:p>
            <a:pPr algn="l">
              <a:lnSpc>
                <a:spcPts val="2133"/>
              </a:lnSpc>
            </a:pPr>
            <a:endParaRPr lang="en-US" sz="21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08771" y="2745320"/>
            <a:ext cx="4850145" cy="313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9"/>
              </a:lnSpc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Data preprocessing</a:t>
            </a:r>
          </a:p>
          <a:p>
            <a:pPr algn="l">
              <a:lnSpc>
                <a:spcPts val="1939"/>
              </a:lnSpc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Preprocessing improves data quality before applying the algorithm.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Missing-value treatment.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Duplicate-record removal, where appropriate.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Conversion of data types.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 selection.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Categorical encoding when required.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 scaling where appropriate.</a:t>
            </a:r>
          </a:p>
          <a:p>
            <a:pPr algn="l">
              <a:lnSpc>
                <a:spcPts val="1939"/>
              </a:lnSpc>
            </a:pPr>
            <a:endParaRPr lang="en-US" sz="19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1953" y="6775387"/>
            <a:ext cx="6968455" cy="114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0"/>
              </a:lnSpc>
            </a:pPr>
            <a:r>
              <a:rPr lang="en-US" sz="1835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 scaling</a:t>
            </a:r>
          </a:p>
          <a:p>
            <a:pPr algn="l">
              <a:lnSpc>
                <a:spcPts val="1780"/>
              </a:lnSpc>
            </a:pPr>
            <a:r>
              <a:rPr lang="en-US" sz="1835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DBSCAN relies on distances between observations. A feature with a much larger numerical range may dominate the distance calculation.</a:t>
            </a:r>
          </a:p>
          <a:p>
            <a:pPr algn="l">
              <a:lnSpc>
                <a:spcPts val="1780"/>
              </a:lnSpc>
            </a:pPr>
            <a:endParaRPr lang="en-US" sz="1835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213869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4" y="0"/>
                </a:lnTo>
                <a:lnTo>
                  <a:pt x="3164484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8700" y="4544689"/>
            <a:ext cx="7759879" cy="5742311"/>
          </a:xfrm>
          <a:custGeom>
            <a:avLst/>
            <a:gdLst/>
            <a:ahLst/>
            <a:cxnLst/>
            <a:rect l="l" t="t" r="r" b="b"/>
            <a:pathLst>
              <a:path w="7759879" h="5742311">
                <a:moveTo>
                  <a:pt x="7759879" y="0"/>
                </a:moveTo>
                <a:lnTo>
                  <a:pt x="0" y="0"/>
                </a:lnTo>
                <a:lnTo>
                  <a:pt x="0" y="5742311"/>
                </a:lnTo>
                <a:lnTo>
                  <a:pt x="7759879" y="5742311"/>
                </a:lnTo>
                <a:lnTo>
                  <a:pt x="77598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34728" y="489668"/>
            <a:ext cx="12294143" cy="1036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8492" spc="-424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ALGORITHM: DBSCAN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05411" y="6129141"/>
            <a:ext cx="8223460" cy="186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DBSCAN point types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Core point: Has sufficient samples in its eps neighborhood, including itself.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Border point: Is within the neighborhood of a core point but does not independently meet the core-point requirement.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Noise point: Is not assigned to any cluster.</a:t>
            </a:r>
          </a:p>
          <a:p>
            <a:pPr algn="l">
              <a:lnSpc>
                <a:spcPts val="1842"/>
              </a:lnSpc>
            </a:pPr>
            <a:endParaRPr lang="en-US" sz="18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42"/>
              </a:lnSpc>
            </a:pPr>
            <a:endParaRPr lang="en-US" sz="18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305318" y="1841100"/>
            <a:ext cx="7673966" cy="1956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DBSCAN stands for Density-Based Spatial Clustering of Applications with Noise.</a:t>
            </a:r>
          </a:p>
          <a:p>
            <a:pPr algn="l">
              <a:lnSpc>
                <a:spcPts val="2133"/>
              </a:lnSpc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It is an unsupervised machine learning algorithm that groups observations according to the density of their local neighborhoods.</a:t>
            </a:r>
          </a:p>
          <a:p>
            <a:pPr algn="l">
              <a:lnSpc>
                <a:spcPts val="2133"/>
              </a:lnSpc>
            </a:pPr>
            <a:endParaRPr lang="en-US" sz="21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521"/>
              </a:lnSpc>
            </a:pPr>
            <a:endParaRPr lang="en-US" sz="21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509055" y="8295640"/>
            <a:ext cx="6866478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9"/>
              </a:lnSpc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Why DBSCAN?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Does not require the number of clusters beforehand.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Supports irregularly shaped clusters.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Can separate some noise from dense regions.</a:t>
            </a:r>
          </a:p>
          <a:p>
            <a:pPr marL="431797" lvl="1" indent="-215899" algn="l">
              <a:lnSpc>
                <a:spcPts val="1939"/>
              </a:lnSpc>
              <a:buFont typeface="Arial"/>
              <a:buChar char="•"/>
            </a:pPr>
            <a:r>
              <a:rPr lang="en-US" sz="19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Does not require labeled data to perform clustering.</a:t>
            </a:r>
          </a:p>
          <a:p>
            <a:pPr algn="l">
              <a:lnSpc>
                <a:spcPts val="1939"/>
              </a:lnSpc>
            </a:pPr>
            <a:endParaRPr lang="en-US" sz="19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36384" y="3369547"/>
            <a:ext cx="8844111" cy="20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Working principle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Calculate the neighborhood of each observation using a distance metric.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core points that meet the minimum density requirement.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Connect density-reachable points to form clusters.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Assign eligible border points to clusters.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Label observations that cannot be assigned to a cluster as noise.</a:t>
            </a:r>
          </a:p>
        </p:txBody>
      </p:sp>
      <p:sp>
        <p:nvSpPr>
          <p:cNvPr id="8" name="Freeform 8"/>
          <p:cNvSpPr/>
          <p:nvPr/>
        </p:nvSpPr>
        <p:spPr>
          <a:xfrm>
            <a:off x="152400" y="78153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68268" y="2789937"/>
            <a:ext cx="9553827" cy="7344504"/>
          </a:xfrm>
          <a:custGeom>
            <a:avLst/>
            <a:gdLst/>
            <a:ahLst/>
            <a:cxnLst/>
            <a:rect l="l" t="t" r="r" b="b"/>
            <a:pathLst>
              <a:path w="9553827" h="7344504">
                <a:moveTo>
                  <a:pt x="0" y="0"/>
                </a:moveTo>
                <a:lnTo>
                  <a:pt x="9553827" y="0"/>
                </a:lnTo>
                <a:lnTo>
                  <a:pt x="9553827" y="7344504"/>
                </a:lnTo>
                <a:lnTo>
                  <a:pt x="0" y="734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02874" y="325584"/>
            <a:ext cx="16162783" cy="166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6"/>
              </a:lnSpc>
            </a:pPr>
            <a:r>
              <a:rPr lang="en-US" sz="7424" spc="-371" dirty="0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RESULTS AND MODEL</a:t>
            </a:r>
          </a:p>
          <a:p>
            <a:pPr algn="l">
              <a:lnSpc>
                <a:spcPts val="6236"/>
              </a:lnSpc>
            </a:pPr>
            <a:r>
              <a:rPr lang="en-US" sz="7424" spc="-371" dirty="0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 EVALUATION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7534" y="3835816"/>
            <a:ext cx="8030734" cy="403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Evaluation metrics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Metric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Interpretation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Silhouette Score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Measures how well observations fit within their clusters compared with other clusters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Davies–Bouldin Index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Evaluates the similarity between clusters; lower values are generally preferable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Adjusted Rand Index (ARI)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Compares clustering assignments with reference labels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Precision and Recall</a:t>
            </a:r>
          </a:p>
          <a:p>
            <a:pPr algn="l">
              <a:lnSpc>
                <a:spcPts val="2164"/>
              </a:lnSpc>
            </a:pPr>
            <a:r>
              <a:rPr lang="en-US" sz="22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Evaluate detection against verified positive and negative labels, when available</a:t>
            </a:r>
          </a:p>
          <a:p>
            <a:pPr algn="l">
              <a:lnSpc>
                <a:spcPts val="2164"/>
              </a:lnSpc>
            </a:pPr>
            <a:endParaRPr lang="en-US" sz="2231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82242" y="1803115"/>
            <a:ext cx="7945164" cy="1992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Results to report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Total number of input observations.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Number of clusters detected.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Number of noise points.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Percentage of observations classified as noise.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Number of observations in each cluster.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Cluster visualization and relevant observations.</a:t>
            </a:r>
          </a:p>
          <a:p>
            <a:pPr algn="l">
              <a:lnSpc>
                <a:spcPts val="2715"/>
              </a:lnSpc>
            </a:pPr>
            <a:endParaRPr lang="en-US" sz="1899" dirty="0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228600" y="81442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66240" y="5330750"/>
            <a:ext cx="8393060" cy="5602368"/>
          </a:xfrm>
          <a:custGeom>
            <a:avLst/>
            <a:gdLst/>
            <a:ahLst/>
            <a:cxnLst/>
            <a:rect l="l" t="t" r="r" b="b"/>
            <a:pathLst>
              <a:path w="8393060" h="5602368">
                <a:moveTo>
                  <a:pt x="0" y="0"/>
                </a:moveTo>
                <a:lnTo>
                  <a:pt x="8393060" y="0"/>
                </a:lnTo>
                <a:lnTo>
                  <a:pt x="8393060" y="5602367"/>
                </a:lnTo>
                <a:lnTo>
                  <a:pt x="0" y="5602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4667" y="2513825"/>
            <a:ext cx="5291891" cy="2817932"/>
          </a:xfrm>
          <a:custGeom>
            <a:avLst/>
            <a:gdLst/>
            <a:ahLst/>
            <a:cxnLst/>
            <a:rect l="l" t="t" r="r" b="b"/>
            <a:pathLst>
              <a:path w="5291891" h="2817932">
                <a:moveTo>
                  <a:pt x="0" y="0"/>
                </a:moveTo>
                <a:lnTo>
                  <a:pt x="5291891" y="0"/>
                </a:lnTo>
                <a:lnTo>
                  <a:pt x="5291891" y="2817932"/>
                </a:lnTo>
                <a:lnTo>
                  <a:pt x="0" y="281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02373" y="2591033"/>
            <a:ext cx="5216191" cy="2663517"/>
          </a:xfrm>
          <a:custGeom>
            <a:avLst/>
            <a:gdLst/>
            <a:ahLst/>
            <a:cxnLst/>
            <a:rect l="l" t="t" r="r" b="b"/>
            <a:pathLst>
              <a:path w="5216191" h="2663517">
                <a:moveTo>
                  <a:pt x="0" y="0"/>
                </a:moveTo>
                <a:lnTo>
                  <a:pt x="5216190" y="0"/>
                </a:lnTo>
                <a:lnTo>
                  <a:pt x="5216190" y="2663517"/>
                </a:lnTo>
                <a:lnTo>
                  <a:pt x="0" y="2663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62770" y="2660367"/>
            <a:ext cx="4865235" cy="2523841"/>
          </a:xfrm>
          <a:custGeom>
            <a:avLst/>
            <a:gdLst/>
            <a:ahLst/>
            <a:cxnLst/>
            <a:rect l="l" t="t" r="r" b="b"/>
            <a:pathLst>
              <a:path w="4865235" h="2523841">
                <a:moveTo>
                  <a:pt x="0" y="0"/>
                </a:moveTo>
                <a:lnTo>
                  <a:pt x="4865235" y="0"/>
                </a:lnTo>
                <a:lnTo>
                  <a:pt x="4865235" y="2523841"/>
                </a:lnTo>
                <a:lnTo>
                  <a:pt x="0" y="2523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6175477"/>
            <a:ext cx="5291891" cy="2817932"/>
          </a:xfrm>
          <a:custGeom>
            <a:avLst/>
            <a:gdLst/>
            <a:ahLst/>
            <a:cxnLst/>
            <a:rect l="l" t="t" r="r" b="b"/>
            <a:pathLst>
              <a:path w="5291891" h="2817932">
                <a:moveTo>
                  <a:pt x="0" y="0"/>
                </a:moveTo>
                <a:lnTo>
                  <a:pt x="5291891" y="0"/>
                </a:lnTo>
                <a:lnTo>
                  <a:pt x="5291891" y="2817932"/>
                </a:lnTo>
                <a:lnTo>
                  <a:pt x="0" y="281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11242" y="580840"/>
            <a:ext cx="15042456" cy="193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3"/>
              </a:lnSpc>
            </a:pPr>
            <a:r>
              <a:rPr lang="en-US" sz="8797" spc="-439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SCREENSHOTS AND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14062" y="5187875"/>
            <a:ext cx="2673102" cy="62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3697" spc="-184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94482" y="5127058"/>
            <a:ext cx="2623691" cy="570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6"/>
              </a:lnSpc>
              <a:spcBef>
                <a:spcPct val="0"/>
              </a:spcBef>
            </a:pPr>
            <a:r>
              <a:rPr lang="en-US" sz="3397" spc="-169" dirty="0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ADD PATIENT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81981" y="5197400"/>
            <a:ext cx="3077319" cy="521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6"/>
              </a:lnSpc>
              <a:spcBef>
                <a:spcPct val="0"/>
              </a:spcBef>
            </a:pPr>
            <a:r>
              <a:rPr lang="en-US" sz="3097" spc="-154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PATIENT DETAILS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9709" y="8918228"/>
            <a:ext cx="3749873" cy="61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6"/>
              </a:lnSpc>
              <a:spcBef>
                <a:spcPct val="0"/>
              </a:spcBef>
            </a:pPr>
            <a:r>
              <a:rPr lang="en-US" sz="3597" spc="-179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PATIENT DATASET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123517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73019" y="6754647"/>
            <a:ext cx="8491140" cy="27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5"/>
              </a:lnSpc>
            </a:pPr>
            <a:r>
              <a:rPr lang="en-US" sz="7916" spc="-395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ADVANTAGES OF THE PROPOSED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48651" y="1182304"/>
            <a:ext cx="8758632" cy="3008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Unsupervised learning: Does not require labeled training data for clustering.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Automatic cluster discovery: Identifies groups based on local density.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Noise identification: Assigns a special label to observations outside detected clusters.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Flexible cluster shapes: Can detect non-spherical clusters.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Exploratory data analysis: Helps discover structures that may not be obvious from summary statistics.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Reduced manual effort: Processes multiple observations automatically.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Visual interpretation: Cluster plots can make the data structure easier to understand.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endParaRPr lang="en-US" sz="18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768160" y="5153025"/>
            <a:ext cx="3776239" cy="20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8"/>
              </a:lnSpc>
            </a:pPr>
            <a:endParaRPr/>
          </a:p>
        </p:txBody>
      </p:sp>
      <p:sp>
        <p:nvSpPr>
          <p:cNvPr id="5" name="Freeform 5"/>
          <p:cNvSpPr/>
          <p:nvPr/>
        </p:nvSpPr>
        <p:spPr>
          <a:xfrm flipH="1">
            <a:off x="242257" y="2046798"/>
            <a:ext cx="7395581" cy="8240202"/>
          </a:xfrm>
          <a:custGeom>
            <a:avLst/>
            <a:gdLst/>
            <a:ahLst/>
            <a:cxnLst/>
            <a:rect l="l" t="t" r="r" b="b"/>
            <a:pathLst>
              <a:path w="7395581" h="8240202">
                <a:moveTo>
                  <a:pt x="7395581" y="0"/>
                </a:moveTo>
                <a:lnTo>
                  <a:pt x="0" y="0"/>
                </a:lnTo>
                <a:lnTo>
                  <a:pt x="0" y="8240202"/>
                </a:lnTo>
                <a:lnTo>
                  <a:pt x="7395581" y="8240202"/>
                </a:lnTo>
                <a:lnTo>
                  <a:pt x="73955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10084" y="5086350"/>
            <a:ext cx="9497199" cy="639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180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advantages describe the algorithm's capabilities and do not guarantee that every rare disease or anomaly will be detected.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0882" y="3994864"/>
            <a:ext cx="8498418" cy="6310075"/>
          </a:xfrm>
          <a:custGeom>
            <a:avLst/>
            <a:gdLst/>
            <a:ahLst/>
            <a:cxnLst/>
            <a:rect l="l" t="t" r="r" b="b"/>
            <a:pathLst>
              <a:path w="8498418" h="6310075">
                <a:moveTo>
                  <a:pt x="0" y="0"/>
                </a:moveTo>
                <a:lnTo>
                  <a:pt x="8498418" y="0"/>
                </a:lnTo>
                <a:lnTo>
                  <a:pt x="8498418" y="6310075"/>
                </a:lnTo>
                <a:lnTo>
                  <a:pt x="0" y="6310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388710"/>
            <a:ext cx="8321154" cy="103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1"/>
              </a:lnSpc>
            </a:pPr>
            <a:r>
              <a:rPr lang="en-US" sz="8479" spc="-423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APPLICATIONS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442" y="6825181"/>
            <a:ext cx="7003770" cy="214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6"/>
              </a:lnSpc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Other domains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Fraud and transaction anomaly analysis.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Network intrusion detection.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Geographic and spatial data clustering.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Manufacturing defect analysis.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Customer segmentation and behavioral analysis.</a:t>
            </a:r>
          </a:p>
          <a:p>
            <a:pPr algn="l">
              <a:lnSpc>
                <a:spcPts val="2424"/>
              </a:lnSpc>
            </a:pPr>
            <a:endParaRPr lang="en-US" sz="20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644618" y="1057275"/>
            <a:ext cx="8232813" cy="209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6"/>
              </a:lnSpc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Healthcare and biomedical research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Exploring patient-record clusters.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Identifying unusual laboratory measurements.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Investigating uncommon combinations of clinical features.</a:t>
            </a:r>
          </a:p>
          <a:p>
            <a:pPr marL="453387" lvl="1" indent="-226693" algn="l">
              <a:lnSpc>
                <a:spcPts val="2036"/>
              </a:lnSpc>
              <a:buFont typeface="Arial"/>
              <a:buChar char="•"/>
            </a:pPr>
            <a:r>
              <a:rPr lang="en-US" sz="20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Examining possible anomalies in biomedical datasets.</a:t>
            </a:r>
          </a:p>
          <a:p>
            <a:pPr algn="l">
              <a:lnSpc>
                <a:spcPts val="2036"/>
              </a:lnSpc>
            </a:pPr>
            <a:endParaRPr lang="en-US" sz="20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36"/>
              </a:lnSpc>
            </a:pPr>
            <a:endParaRPr lang="en-US" sz="20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57071" y="5162550"/>
            <a:ext cx="8254953" cy="69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805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For your presentation, emphasize healthcare applications because they align with the project's domain. Avoid claiming clinical effectiveness unless it has been validated.</a:t>
            </a:r>
          </a:p>
        </p:txBody>
      </p:sp>
      <p:sp>
        <p:nvSpPr>
          <p:cNvPr id="7" name="Freeform 7"/>
          <p:cNvSpPr/>
          <p:nvPr/>
        </p:nvSpPr>
        <p:spPr>
          <a:xfrm>
            <a:off x="152400" y="30726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25478" y="2904356"/>
            <a:ext cx="9553827" cy="7344504"/>
          </a:xfrm>
          <a:custGeom>
            <a:avLst/>
            <a:gdLst/>
            <a:ahLst/>
            <a:cxnLst/>
            <a:rect l="l" t="t" r="r" b="b"/>
            <a:pathLst>
              <a:path w="9553827" h="7344504">
                <a:moveTo>
                  <a:pt x="0" y="0"/>
                </a:moveTo>
                <a:lnTo>
                  <a:pt x="9553826" y="0"/>
                </a:lnTo>
                <a:lnTo>
                  <a:pt x="9553826" y="7344504"/>
                </a:lnTo>
                <a:lnTo>
                  <a:pt x="0" y="734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88713" y="506819"/>
            <a:ext cx="14961381" cy="93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0"/>
              </a:lnSpc>
            </a:pPr>
            <a:r>
              <a:rPr lang="en-US" sz="8024" spc="-401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LIMITATIONS OF THE PROJECT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3316" y="6815202"/>
            <a:ext cx="7003770" cy="195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Medical limitations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 noise point is not automatically a rare-disease case.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 rare-disease case may belong to a normal cluster.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algorithm does not establish a medical diagnosis.</a:t>
            </a:r>
          </a:p>
          <a:p>
            <a:pPr marL="410208" lvl="1" indent="-205104" algn="l">
              <a:lnSpc>
                <a:spcPts val="1842"/>
              </a:lnSpc>
              <a:buFont typeface="Arial"/>
              <a:buChar char="•"/>
            </a:pPr>
            <a:r>
              <a:rPr lang="en-US" sz="18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Expert interpretation and clinical validation are required.</a:t>
            </a:r>
          </a:p>
          <a:p>
            <a:pPr algn="l">
              <a:lnSpc>
                <a:spcPts val="1842"/>
              </a:lnSpc>
            </a:pPr>
            <a:endParaRPr lang="en-US" sz="18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424"/>
              </a:lnSpc>
            </a:pPr>
            <a:endParaRPr lang="en-US" sz="18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43316" y="4312540"/>
            <a:ext cx="8723247" cy="216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Dataset limitations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Missing or noisy values may affect the results.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Biased or unrepresentative samples may produce misleading patterns.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Limited ground-truth labels can make evaluation difficult.</a:t>
            </a:r>
          </a:p>
          <a:p>
            <a:pPr marL="474976" lvl="1" indent="-237488" algn="l">
              <a:lnSpc>
                <a:spcPts val="2133"/>
              </a:lnSpc>
              <a:buFont typeface="Arial"/>
              <a:buChar char="•"/>
            </a:pPr>
            <a:r>
              <a:rPr lang="en-US" sz="21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 selection and scaling influence the clustering outcome.</a:t>
            </a:r>
          </a:p>
          <a:p>
            <a:pPr algn="l">
              <a:lnSpc>
                <a:spcPts val="2133"/>
              </a:lnSpc>
            </a:pPr>
            <a:endParaRPr lang="en-US" sz="2199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1722" y="1788077"/>
            <a:ext cx="10689732" cy="2362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2"/>
              </a:lnSpc>
            </a:pPr>
            <a:r>
              <a:rPr lang="en-US" sz="23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Algorithmic limitations</a:t>
            </a:r>
          </a:p>
          <a:p>
            <a:pPr marL="516832" lvl="1" indent="-258416" algn="l">
              <a:lnSpc>
                <a:spcPts val="2322"/>
              </a:lnSpc>
              <a:buFont typeface="Arial"/>
              <a:buChar char="•"/>
            </a:pPr>
            <a:r>
              <a:rPr lang="en-US" sz="23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DBSCAN is sensitive to the eps and min_samples parameters.</a:t>
            </a:r>
          </a:p>
          <a:p>
            <a:pPr marL="516832" lvl="1" indent="-258416" algn="l">
              <a:lnSpc>
                <a:spcPts val="2322"/>
              </a:lnSpc>
              <a:buFont typeface="Arial"/>
              <a:buChar char="•"/>
            </a:pPr>
            <a:r>
              <a:rPr lang="en-US" sz="23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Clusters with different densities may be difficult to identify using one global eps value.</a:t>
            </a:r>
          </a:p>
          <a:p>
            <a:pPr marL="516832" lvl="1" indent="-258416" algn="l">
              <a:lnSpc>
                <a:spcPts val="2322"/>
              </a:lnSpc>
              <a:buFont typeface="Arial"/>
              <a:buChar char="•"/>
            </a:pPr>
            <a:r>
              <a:rPr lang="en-US" sz="23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High-dimensional data can weaken the usefulness of distance-based neighborhoods.</a:t>
            </a:r>
          </a:p>
          <a:p>
            <a:pPr marL="516832" lvl="1" indent="-258416" algn="l">
              <a:lnSpc>
                <a:spcPts val="2322"/>
              </a:lnSpc>
              <a:buFont typeface="Arial"/>
              <a:buChar char="•"/>
            </a:pPr>
            <a:r>
              <a:rPr lang="en-US" sz="2393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Irrelevant features can reduce clustering quality.</a:t>
            </a:r>
          </a:p>
          <a:p>
            <a:pPr algn="l">
              <a:lnSpc>
                <a:spcPts val="2322"/>
              </a:lnSpc>
            </a:pPr>
            <a:endParaRPr lang="en-US" sz="2393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-95521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39737" y="-65410"/>
            <a:ext cx="8393060" cy="5602368"/>
          </a:xfrm>
          <a:custGeom>
            <a:avLst/>
            <a:gdLst/>
            <a:ahLst/>
            <a:cxnLst/>
            <a:rect l="l" t="t" r="r" b="b"/>
            <a:pathLst>
              <a:path w="8393060" h="5602368">
                <a:moveTo>
                  <a:pt x="0" y="0"/>
                </a:moveTo>
                <a:lnTo>
                  <a:pt x="8393060" y="0"/>
                </a:lnTo>
                <a:lnTo>
                  <a:pt x="8393060" y="5602367"/>
                </a:lnTo>
                <a:lnTo>
                  <a:pt x="0" y="5602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49415" y="371204"/>
            <a:ext cx="8329864" cy="102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3"/>
              </a:lnSpc>
            </a:pPr>
            <a:r>
              <a:rPr lang="en-US" sz="8797" spc="-439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4045" y="2591671"/>
            <a:ext cx="10079072" cy="61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project can be extended using additional machine learning techniques.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Hyperparameter optimization: Systematically evaluate different values of eps and min_samples.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Algorithm comparison: Compare DBSCAN with K-Means, hierarchical clustering and other density-based methods.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Dimensionality reduction: Use PCA for exploratory analysis or visualization of high-dimensional features.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Advanced anomaly detection: Evaluate methods such as Isolation Forest or Local Outlier Factor.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Model evaluation: Use expert-verified labels and appropriate performance metrics.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Feature importance and interpretation: Investigate which attributes distinguish noise observations from cluster members.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Interactive dashboard: Provide clearer charts, filtering and downloadable reports.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Larger datasets: Evaluate generalization across datasets and patient populations.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Privacy and security: Implement safeguards for sensitive medical data.</a:t>
            </a:r>
          </a:p>
          <a:p>
            <a:pPr marL="478160" lvl="1" indent="-239080" algn="l">
              <a:lnSpc>
                <a:spcPts val="2148"/>
              </a:lnSpc>
              <a:buAutoNum type="arabicPeriod"/>
            </a:pPr>
            <a:r>
              <a:rPr lang="en-US" sz="221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Clinical collaboration: Work with medical experts to determine whether detected patterns are meaningful.</a:t>
            </a:r>
          </a:p>
          <a:p>
            <a:pPr algn="l">
              <a:lnSpc>
                <a:spcPts val="2148"/>
              </a:lnSpc>
            </a:pPr>
            <a:endParaRPr lang="en-US" sz="2214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-6541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66958" y="1028700"/>
            <a:ext cx="6692342" cy="9526466"/>
          </a:xfrm>
          <a:custGeom>
            <a:avLst/>
            <a:gdLst/>
            <a:ahLst/>
            <a:cxnLst/>
            <a:rect l="l" t="t" r="r" b="b"/>
            <a:pathLst>
              <a:path w="6692342" h="9526466">
                <a:moveTo>
                  <a:pt x="0" y="0"/>
                </a:moveTo>
                <a:lnTo>
                  <a:pt x="6692342" y="0"/>
                </a:lnTo>
                <a:lnTo>
                  <a:pt x="6692342" y="9526466"/>
                </a:lnTo>
                <a:lnTo>
                  <a:pt x="0" y="952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5442" y="903637"/>
            <a:ext cx="9035383" cy="116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2"/>
              </a:lnSpc>
            </a:pPr>
            <a:r>
              <a:rPr lang="en-US" sz="10961" spc="-548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674" y="2580548"/>
            <a:ext cx="8928980" cy="631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endParaRPr/>
          </a:p>
          <a:p>
            <a:pPr algn="l">
              <a:lnSpc>
                <a:spcPts val="2252"/>
              </a:lnSpc>
            </a:pPr>
            <a:r>
              <a:rPr lang="en-US" sz="232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Rare-Disease Detection Using DBSCAN project explores the application of unsupervised machine learning to medical data analysis.</a:t>
            </a:r>
          </a:p>
          <a:p>
            <a:pPr algn="l">
              <a:lnSpc>
                <a:spcPts val="2252"/>
              </a:lnSpc>
            </a:pPr>
            <a:r>
              <a:rPr lang="en-US" sz="232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DBSCAN identifies density-based clusters and assigns noise labels to observations that do not belong to any discovered cluster. This provides a method for exploring unusual patterns without requiring the number of clusters to be specified in advance.</a:t>
            </a:r>
          </a:p>
          <a:p>
            <a:pPr algn="l">
              <a:lnSpc>
                <a:spcPts val="2252"/>
              </a:lnSpc>
            </a:pPr>
            <a:r>
              <a:rPr lang="en-US" sz="232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project demonstrates important machine learning concepts, including data preprocessing, feature representation, density-based clustering, anomaly identification and result visualization.</a:t>
            </a:r>
          </a:p>
          <a:p>
            <a:pPr algn="l">
              <a:lnSpc>
                <a:spcPts val="2252"/>
              </a:lnSpc>
            </a:pPr>
            <a:r>
              <a:rPr lang="en-US" sz="232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 identified noise points may provide useful candidates for further investigation. However, they cannot be treated as confirmed rare-disease cases without appropriate medical evidence.</a:t>
            </a:r>
          </a:p>
          <a:p>
            <a:pPr algn="l">
              <a:lnSpc>
                <a:spcPts val="2252"/>
              </a:lnSpc>
            </a:pPr>
            <a:r>
              <a:rPr lang="en-US" sz="232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Future improvements can include hyperparameter optimization, comparison with alternative algorithms, evaluation using verified labels and validation with medical experts.</a:t>
            </a:r>
          </a:p>
          <a:p>
            <a:pPr algn="l">
              <a:lnSpc>
                <a:spcPts val="2252"/>
              </a:lnSpc>
            </a:pPr>
            <a:endParaRPr lang="en-US" sz="2322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123517" y="-218128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06180"/>
            <a:ext cx="7274852" cy="6992952"/>
          </a:xfrm>
          <a:custGeom>
            <a:avLst/>
            <a:gdLst/>
            <a:ahLst/>
            <a:cxnLst/>
            <a:rect l="l" t="t" r="r" b="b"/>
            <a:pathLst>
              <a:path w="7274852" h="6992952">
                <a:moveTo>
                  <a:pt x="0" y="0"/>
                </a:moveTo>
                <a:lnTo>
                  <a:pt x="7274852" y="0"/>
                </a:lnTo>
                <a:lnTo>
                  <a:pt x="7274852" y="6992952"/>
                </a:lnTo>
                <a:lnTo>
                  <a:pt x="0" y="6992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3791930"/>
            <a:ext cx="7606788" cy="240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15"/>
              </a:lnSpc>
            </a:pPr>
            <a:r>
              <a:rPr lang="en-US" sz="10127" spc="-506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  <a:p>
            <a:pPr algn="l">
              <a:lnSpc>
                <a:spcPts val="9115"/>
              </a:lnSpc>
            </a:pPr>
            <a:r>
              <a:rPr lang="en-US" sz="10127" spc="-506">
                <a:solidFill>
                  <a:srgbClr val="B87680"/>
                </a:solidFill>
                <a:latin typeface="Fredoka"/>
                <a:ea typeface="Fredoka"/>
                <a:cs typeface="Fredoka"/>
                <a:sym typeface="Fredoka"/>
              </a:rPr>
              <a:t>VERY MUCH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164483" cy="1721673"/>
          </a:xfrm>
          <a:custGeom>
            <a:avLst/>
            <a:gdLst/>
            <a:ahLst/>
            <a:cxnLst/>
            <a:rect l="l" t="t" r="r" b="b"/>
            <a:pathLst>
              <a:path w="3164483" h="1721673">
                <a:moveTo>
                  <a:pt x="0" y="0"/>
                </a:moveTo>
                <a:lnTo>
                  <a:pt x="3164483" y="0"/>
                </a:lnTo>
                <a:lnTo>
                  <a:pt x="3164483" y="1721673"/>
                </a:lnTo>
                <a:lnTo>
                  <a:pt x="0" y="17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1979</Words>
  <Application>Microsoft Office PowerPoint</Application>
  <PresentationFormat>Custom</PresentationFormat>
  <Paragraphs>244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Poppins</vt:lpstr>
      <vt:lpstr>Arial</vt:lpstr>
      <vt:lpstr>Aileron Light</vt:lpstr>
      <vt:lpstr>Calibri</vt:lpstr>
      <vt:lpstr>Fredoka</vt:lpstr>
      <vt:lpstr>Aileron</vt:lpstr>
      <vt:lpstr>Poppins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Rare-Disease Detection Using DBSCAN</dc:title>
  <cp:lastModifiedBy>Aakash Burramukku</cp:lastModifiedBy>
  <cp:revision>1</cp:revision>
  <dcterms:created xsi:type="dcterms:W3CDTF">2006-08-16T00:00:00Z</dcterms:created>
  <dcterms:modified xsi:type="dcterms:W3CDTF">2026-10-14T05:43:35Z</dcterms:modified>
  <dc:identifier>DAHX6mnVf88</dc:identifier>
</cp:coreProperties>
</file>